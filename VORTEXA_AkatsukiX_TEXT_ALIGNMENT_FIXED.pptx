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8288000" cy="10287000"/>
  <p:notesSz cx="6858000" cy="9144000"/>
  <p:embeddedFontLst>
    <p:embeddedFont>
      <p:font typeface="Calibri" panose="020F050202020403020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font" Target="fonts/font4.fntdata"/><Relationship Id="rId16" Type="http://schemas.openxmlformats.org/officeDocument/2006/relationships/font" Target="fonts/font3.fntdata"/><Relationship Id="rId15" Type="http://schemas.openxmlformats.org/officeDocument/2006/relationships/font" Target="fonts/font2.fntdata"/><Relationship Id="rId14" Type="http://schemas.openxmlformats.org/officeDocument/2006/relationships/font" Target="fonts/font1.fntdata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image" Target="../media/image12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1.xml"/><Relationship Id="rId10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image" Target="../media/image12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2.xml"/><Relationship Id="rId10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12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12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3.xml"/><Relationship Id="rId10" Type="http://schemas.openxmlformats.org/officeDocument/2006/relationships/image" Target="../media/image2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12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12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4.xml"/><Relationship Id="rId10" Type="http://schemas.openxmlformats.org/officeDocument/2006/relationships/image" Target="../media/image2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2.png"/><Relationship Id="rId12" Type="http://schemas.openxmlformats.org/officeDocument/2006/relationships/image" Target="../media/image24.png"/><Relationship Id="rId11" Type="http://schemas.openxmlformats.org/officeDocument/2006/relationships/image" Target="../media/image23.png"/><Relationship Id="rId10" Type="http://schemas.openxmlformats.org/officeDocument/2006/relationships/image" Target="../media/image22.pn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16893" y="4930326"/>
            <a:ext cx="1790743" cy="1009954"/>
          </a:xfrm>
          <a:custGeom>
            <a:avLst/>
            <a:gdLst/>
            <a:ahLst/>
            <a:cxnLst/>
            <a:rect l="l" t="t" r="r" b="b"/>
            <a:pathLst>
              <a:path w="1790743" h="1009954">
                <a:moveTo>
                  <a:pt x="0" y="0"/>
                </a:moveTo>
                <a:lnTo>
                  <a:pt x="1790744" y="0"/>
                </a:lnTo>
                <a:lnTo>
                  <a:pt x="1790744" y="1009954"/>
                </a:lnTo>
                <a:lnTo>
                  <a:pt x="0" y="100995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59000"/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594360" y="6499860"/>
            <a:ext cx="9117965" cy="1544320"/>
          </a:xfrm>
          <a:prstGeom prst="rect">
            <a:avLst/>
          </a:prstGeom>
        </p:spPr>
        <p:txBody>
          <a:bodyPr wrap="square" lIns="36576" tIns="18288" rIns="36576" bIns="18288" rtlCol="0" anchor="ctr">
            <a:noAutofit/>
          </a:bodyPr>
          <a:lstStyle/>
          <a:p>
            <a:pPr algn="l">
              <a:lnSpc>
                <a:spcPts val="4770"/>
              </a:lnSpc>
              <a:spcBef>
                <a:spcPts val="0"/>
              </a:spcBef>
              <a:spcAft>
                <a:spcPts val="0"/>
              </a:spcAft>
            </a:pPr>
            <a:r>
              <a:rPr sz="5150" b="1">
                <a:solidFill>
                  <a:srgbClr val="2B272F"/>
                </a:solidFill>
                <a:latin typeface="Aptos"/>
              </a:rPr>
              <a:t>TEAM NAME :</a:t>
            </a:r>
            <a:r>
              <a:rPr sz="2200" b="1">
                <a:solidFill>
                  <a:srgbClr val="2B272F"/>
                </a:solidFill>
                <a:latin typeface="Aptos"/>
              </a:rPr>
              <a:t> </a:t>
            </a:r>
            <a:r>
              <a:rPr sz="3200" b="1">
                <a:solidFill>
                  <a:srgbClr val="2B272F"/>
                </a:solidFill>
                <a:latin typeface="Aptos"/>
              </a:rPr>
              <a:t>AKATSUKIX</a:t>
            </a:r>
            <a:endParaRPr sz="3200" b="1">
              <a:solidFill>
                <a:srgbClr val="2B272F"/>
              </a:solidFill>
              <a:latin typeface="Apto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94360" y="5143500"/>
            <a:ext cx="16010255" cy="914400"/>
          </a:xfrm>
          <a:prstGeom prst="rect">
            <a:avLst/>
          </a:prstGeom>
        </p:spPr>
        <p:txBody>
          <a:bodyPr wrap="none" lIns="18288" tIns="9144" rIns="18288" bIns="9144" rtlCol="0" anchor="ctr">
            <a:noAutofit/>
          </a:bodyPr>
          <a:lstStyle/>
          <a:p>
            <a:pPr algn="l">
              <a:lnSpc>
                <a:spcPts val="5150"/>
              </a:lnSpc>
              <a:spcBef>
                <a:spcPts val="0"/>
              </a:spcBef>
              <a:spcAft>
                <a:spcPts val="0"/>
              </a:spcAft>
            </a:pPr>
            <a:r>
              <a:rPr sz="5150" b="1">
                <a:solidFill>
                  <a:srgbClr val="2B272F"/>
                </a:solidFill>
                <a:latin typeface="Aptos"/>
              </a:rPr>
              <a:t>PROBLEM STATEMENT TITLE :</a:t>
            </a:r>
            <a:r>
              <a:rPr sz="1800">
                <a:solidFill>
                  <a:srgbClr val="2B272F"/>
                </a:solidFill>
                <a:latin typeface="Aptos"/>
              </a:rPr>
              <a:t> </a:t>
            </a:r>
            <a:r>
              <a:rPr sz="3200" b="1">
                <a:solidFill>
                  <a:srgbClr val="2B272F"/>
                </a:solidFill>
                <a:latin typeface="Aptos"/>
              </a:rPr>
              <a:t>PROMPTSHIELD — PROMPT INJECTION &amp;</a:t>
            </a:r>
            <a:endParaRPr sz="3200" b="1">
              <a:solidFill>
                <a:srgbClr val="2B272F"/>
              </a:solidFill>
              <a:latin typeface="Aptos"/>
            </a:endParaRPr>
          </a:p>
          <a:p>
            <a:pPr algn="l">
              <a:lnSpc>
                <a:spcPts val="515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B272F"/>
                </a:solidFill>
                <a:latin typeface="Aptos"/>
              </a:rPr>
              <a:t> </a:t>
            </a:r>
            <a:r>
              <a:rPr lang="en-US" sz="3200" b="1">
                <a:solidFill>
                  <a:srgbClr val="2B272F"/>
                </a:solidFill>
                <a:latin typeface="Aptos"/>
              </a:rPr>
              <a:t>                                                                                  </a:t>
            </a:r>
            <a:r>
              <a:rPr sz="3200" b="1">
                <a:solidFill>
                  <a:srgbClr val="2B272F"/>
                </a:solidFill>
                <a:latin typeface="Aptos"/>
              </a:rPr>
              <a:t>DATA-EXFILTRATION DEFENSE</a:t>
            </a:r>
            <a:endParaRPr sz="3200" b="1">
              <a:solidFill>
                <a:srgbClr val="2B272F"/>
              </a:solidFill>
              <a:latin typeface="Apto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85800" y="3208655"/>
            <a:ext cx="17794605" cy="1492885"/>
          </a:xfrm>
          <a:prstGeom prst="rect">
            <a:avLst/>
          </a:prstGeom>
        </p:spPr>
        <p:txBody>
          <a:bodyPr wrap="square" lIns="36576" tIns="18288" rIns="36576" bIns="18288" rtlCol="0" anchor="ctr">
            <a:noAutofit/>
          </a:bodyPr>
          <a:lstStyle/>
          <a:p>
            <a:pPr algn="l">
              <a:lnSpc>
                <a:spcPts val="5150"/>
              </a:lnSpc>
              <a:spcBef>
                <a:spcPts val="0"/>
              </a:spcBef>
              <a:spcAft>
                <a:spcPts val="0"/>
              </a:spcAft>
            </a:pPr>
            <a:r>
              <a:rPr sz="5150" b="1">
                <a:solidFill>
                  <a:srgbClr val="2B272F"/>
                </a:solidFill>
                <a:latin typeface="Aptos"/>
              </a:rPr>
              <a:t>DOMAIN &amp; NO : </a:t>
            </a:r>
            <a:r>
              <a:rPr sz="3200" b="1">
                <a:solidFill>
                  <a:srgbClr val="2B272F"/>
                </a:solidFill>
                <a:latin typeface="Aptos"/>
              </a:rPr>
              <a:t>DOMAIN 1 — CYBERSECURITY &amp; DIGITAL TRUST, C-03</a:t>
            </a:r>
            <a:endParaRPr sz="3200" b="1">
              <a:solidFill>
                <a:srgbClr val="2B272F"/>
              </a:solidFill>
              <a:latin typeface="Apto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33400" y="8126730"/>
            <a:ext cx="7425055" cy="1124585"/>
          </a:xfrm>
          <a:prstGeom prst="rect">
            <a:avLst/>
          </a:prstGeom>
        </p:spPr>
        <p:txBody>
          <a:bodyPr wrap="square" lIns="36576" tIns="18288" rIns="36576" bIns="18288" rtlCol="0" anchor="ctr">
            <a:noAutofit/>
          </a:bodyPr>
          <a:lstStyle/>
          <a:p>
            <a:pPr algn="l">
              <a:lnSpc>
                <a:spcPts val="4470"/>
              </a:lnSpc>
              <a:spcBef>
                <a:spcPts val="0"/>
              </a:spcBef>
              <a:spcAft>
                <a:spcPts val="0"/>
              </a:spcAft>
            </a:pPr>
            <a:r>
              <a:rPr sz="5150" b="1">
                <a:solidFill>
                  <a:srgbClr val="2B272F"/>
                </a:solidFill>
                <a:latin typeface="Aptos"/>
              </a:rPr>
              <a:t>TEAM ID :</a:t>
            </a:r>
            <a:r>
              <a:rPr sz="2200" b="1">
                <a:solidFill>
                  <a:srgbClr val="2B272F"/>
                </a:solidFill>
                <a:latin typeface="Aptos"/>
              </a:rPr>
              <a:t> </a:t>
            </a:r>
            <a:r>
              <a:rPr sz="3200" b="1">
                <a:solidFill>
                  <a:srgbClr val="2B272F"/>
                </a:solidFill>
                <a:latin typeface="Aptos"/>
              </a:rPr>
              <a:t>VTX26-53991</a:t>
            </a:r>
            <a:endParaRPr sz="3200" b="1">
              <a:solidFill>
                <a:srgbClr val="2B272F"/>
              </a:solidFill>
              <a:latin typeface="Aptos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6127273" y="239946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7" y="0"/>
                </a:lnTo>
                <a:lnTo>
                  <a:pt x="2160727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p/>
        </p:txBody>
      </p:sp>
      <p:sp>
        <p:nvSpPr>
          <p:cNvPr id="8" name="TextBox 8"/>
          <p:cNvSpPr txBox="1"/>
          <p:nvPr/>
        </p:nvSpPr>
        <p:spPr>
          <a:xfrm>
            <a:off x="533400" y="1256030"/>
            <a:ext cx="4866005" cy="481330"/>
          </a:xfrm>
          <a:prstGeom prst="rect">
            <a:avLst/>
          </a:prstGeom>
        </p:spPr>
        <p:txBody>
          <a:bodyPr wrap="none" lIns="18288" tIns="9144" rIns="18288" bIns="9144" rtlCol="0" anchor="ctr">
            <a:noAutofit/>
          </a:bodyPr>
          <a:lstStyle/>
          <a:p>
            <a:pPr algn="l">
              <a:lnSpc>
                <a:spcPts val="1330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5150" b="1" spc="129">
                <a:solidFill>
                  <a:srgbClr val="3C3B56">
                    <a:alpha val="84706"/>
                  </a:srgbClr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VORTEXA</a:t>
            </a:r>
            <a:endParaRPr lang="en-US" sz="5150" b="1" spc="129">
              <a:solidFill>
                <a:srgbClr val="3C3B56">
                  <a:alpha val="84706"/>
                </a:srgbClr>
              </a:solidFill>
              <a:latin typeface="Heading Now 31-38 Bold"/>
              <a:ea typeface="Heading Now 31-38 Bold"/>
              <a:cs typeface="Heading Now 31-38 Bold"/>
              <a:sym typeface="Heading Now 31-38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267200" y="800100"/>
            <a:ext cx="1920240" cy="1352550"/>
          </a:xfrm>
          <a:prstGeom prst="rect">
            <a:avLst/>
          </a:prstGeom>
        </p:spPr>
        <p:txBody>
          <a:bodyPr wrap="none" lIns="18288" tIns="9144" rIns="18288" bIns="9144" rtlCol="0" anchor="ctr">
            <a:noAutofit/>
          </a:bodyPr>
          <a:lstStyle/>
          <a:p>
            <a:pPr algn="l">
              <a:lnSpc>
                <a:spcPts val="1330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5150" b="1" spc="129">
                <a:solidFill>
                  <a:srgbClr val="7F5E87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3.0</a:t>
            </a:r>
            <a:endParaRPr lang="en-US" sz="5150" b="1" spc="129">
              <a:solidFill>
                <a:srgbClr val="7F5E87"/>
              </a:solidFill>
              <a:latin typeface="Heading Now 31-38 Bold"/>
              <a:ea typeface="Heading Now 31-38 Bold"/>
              <a:cs typeface="Heading Now 31-38 Bold"/>
              <a:sym typeface="Heading Now 31-38 Bold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427876" y="2201546"/>
            <a:ext cx="5496285" cy="239623"/>
          </a:xfrm>
          <a:custGeom>
            <a:avLst/>
            <a:gdLst/>
            <a:ahLst/>
            <a:cxnLst/>
            <a:rect l="l" t="t" r="r" b="b"/>
            <a:pathLst>
              <a:path w="5496285" h="239623">
                <a:moveTo>
                  <a:pt x="0" y="0"/>
                </a:moveTo>
                <a:lnTo>
                  <a:pt x="5496285" y="0"/>
                </a:lnTo>
                <a:lnTo>
                  <a:pt x="5496285" y="239623"/>
                </a:lnTo>
                <a:lnTo>
                  <a:pt x="0" y="2396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p/>
        </p:txBody>
      </p:sp>
      <p:sp>
        <p:nvSpPr>
          <p:cNvPr id="11" name="TextBox 11"/>
          <p:cNvSpPr txBox="1"/>
          <p:nvPr/>
        </p:nvSpPr>
        <p:spPr>
          <a:xfrm>
            <a:off x="6019800" y="1796415"/>
            <a:ext cx="3840480" cy="658368"/>
          </a:xfrm>
          <a:prstGeom prst="rect">
            <a:avLst/>
          </a:prstGeom>
        </p:spPr>
        <p:txBody>
          <a:bodyPr wrap="none" lIns="18288" tIns="9144" rIns="18288" bIns="9144" rtlCol="0" anchor="ctr">
            <a:noAutofit/>
          </a:bodyPr>
          <a:lstStyle/>
          <a:p>
            <a:pPr algn="l">
              <a:lnSpc>
                <a:spcPts val="361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spc="89">
                <a:solidFill>
                  <a:srgbClr val="3F3F3F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12 HRS HACKATHON</a:t>
            </a:r>
            <a:endParaRPr lang="en-US" sz="3200" b="1" spc="89">
              <a:solidFill>
                <a:srgbClr val="3F3F3F"/>
              </a:solidFill>
              <a:latin typeface="Heading Now 31-38 Bold"/>
              <a:ea typeface="Heading Now 31-38 Bold"/>
              <a:cs typeface="Heading Now 31-38 Bold"/>
              <a:sym typeface="Heading Now 31-38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14400" y="2476500"/>
            <a:ext cx="4114800" cy="502920"/>
          </a:xfrm>
          <a:prstGeom prst="rect">
            <a:avLst/>
          </a:prstGeom>
        </p:spPr>
        <p:txBody>
          <a:bodyPr wrap="none" lIns="18288" tIns="9144" rIns="18288" bIns="9144" rtlCol="0" anchor="ctr">
            <a:noAutofit/>
          </a:bodyPr>
          <a:lstStyle/>
          <a:p>
            <a:pPr algn="l">
              <a:lnSpc>
                <a:spcPts val="272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20" spc="67">
                <a:solidFill>
                  <a:srgbClr val="161F3E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POWERED BY </a:t>
            </a:r>
            <a:r>
              <a:rPr lang="en-US" sz="2720" spc="67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A.I.R.S</a:t>
            </a:r>
            <a:endParaRPr lang="en-US" sz="2720" spc="67">
              <a:solidFill>
                <a:srgbClr val="4E4A76"/>
              </a:solidFill>
              <a:latin typeface="Heading Now 31-38 Bold"/>
              <a:ea typeface="Heading Now 31-38 Bold"/>
              <a:cs typeface="Heading Now 31-38 Bold"/>
              <a:sym typeface="Heading Now 31-38 Bold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-1143000" y="-343125"/>
            <a:ext cx="1750048" cy="10607152"/>
          </a:xfrm>
          <a:custGeom>
            <a:avLst/>
            <a:gdLst/>
            <a:ahLst/>
            <a:cxnLst/>
            <a:rect l="l" t="t" r="r" b="b"/>
            <a:pathLst>
              <a:path w="1750048" h="10607152">
                <a:moveTo>
                  <a:pt x="0" y="0"/>
                </a:moveTo>
                <a:lnTo>
                  <a:pt x="1750048" y="0"/>
                </a:lnTo>
                <a:lnTo>
                  <a:pt x="1750048" y="10607153"/>
                </a:lnTo>
                <a:lnTo>
                  <a:pt x="0" y="106071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85" r="-3785"/>
            </a:stretch>
          </a:blipFill>
        </p:spPr>
        <p:txBody>
          <a:bodyPr/>
          <a:p/>
        </p:txBody>
      </p:sp>
      <p:sp>
        <p:nvSpPr>
          <p:cNvPr id="14" name="Freeform 14"/>
          <p:cNvSpPr/>
          <p:nvPr/>
        </p:nvSpPr>
        <p:spPr>
          <a:xfrm>
            <a:off x="14361330" y="6635716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p/>
        </p:txBody>
      </p:sp>
      <p:sp>
        <p:nvSpPr>
          <p:cNvPr id="15" name="Freeform 15"/>
          <p:cNvSpPr/>
          <p:nvPr/>
        </p:nvSpPr>
        <p:spPr>
          <a:xfrm>
            <a:off x="12739803" y="7046873"/>
            <a:ext cx="5548197" cy="3256525"/>
          </a:xfrm>
          <a:custGeom>
            <a:avLst/>
            <a:gdLst/>
            <a:ahLst/>
            <a:cxnLst/>
            <a:rect l="l" t="t" r="r" b="b"/>
            <a:pathLst>
              <a:path w="5548197" h="3256525">
                <a:moveTo>
                  <a:pt x="0" y="0"/>
                </a:moveTo>
                <a:lnTo>
                  <a:pt x="5548197" y="0"/>
                </a:lnTo>
                <a:lnTo>
                  <a:pt x="5548197" y="3256525"/>
                </a:lnTo>
                <a:lnTo>
                  <a:pt x="0" y="32565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9154" b="-3059"/>
            </a:stretch>
          </a:blipFill>
        </p:spPr>
        <p:txBody>
          <a:bodyPr/>
          <a:p/>
        </p:txBody>
      </p:sp>
      <p:sp>
        <p:nvSpPr>
          <p:cNvPr id="16" name="Freeform 16"/>
          <p:cNvSpPr/>
          <p:nvPr/>
        </p:nvSpPr>
        <p:spPr>
          <a:xfrm>
            <a:off x="16975464" y="5455062"/>
            <a:ext cx="1312536" cy="4088563"/>
          </a:xfrm>
          <a:custGeom>
            <a:avLst/>
            <a:gdLst/>
            <a:ahLst/>
            <a:cxnLst/>
            <a:rect l="l" t="t" r="r" b="b"/>
            <a:pathLst>
              <a:path w="1312536" h="4088563">
                <a:moveTo>
                  <a:pt x="0" y="0"/>
                </a:moveTo>
                <a:lnTo>
                  <a:pt x="1312536" y="0"/>
                </a:lnTo>
                <a:lnTo>
                  <a:pt x="1312536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p/>
        </p:txBody>
      </p:sp>
      <p:sp>
        <p:nvSpPr>
          <p:cNvPr id="17" name="Freeform 17"/>
          <p:cNvSpPr/>
          <p:nvPr/>
        </p:nvSpPr>
        <p:spPr>
          <a:xfrm>
            <a:off x="16706941" y="7046873"/>
            <a:ext cx="1104718" cy="2372241"/>
          </a:xfrm>
          <a:custGeom>
            <a:avLst/>
            <a:gdLst/>
            <a:ahLst/>
            <a:cxnLst/>
            <a:rect l="l" t="t" r="r" b="b"/>
            <a:pathLst>
              <a:path w="1104718" h="2372241">
                <a:moveTo>
                  <a:pt x="0" y="0"/>
                </a:moveTo>
                <a:lnTo>
                  <a:pt x="1104718" y="0"/>
                </a:lnTo>
                <a:lnTo>
                  <a:pt x="1104718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p/>
        </p:txBody>
      </p:sp>
      <p:sp>
        <p:nvSpPr>
          <p:cNvPr id="18" name="Freeform 18"/>
          <p:cNvSpPr/>
          <p:nvPr/>
        </p:nvSpPr>
        <p:spPr>
          <a:xfrm>
            <a:off x="14727951" y="2550929"/>
            <a:ext cx="3560049" cy="1756785"/>
          </a:xfrm>
          <a:custGeom>
            <a:avLst/>
            <a:gdLst/>
            <a:ahLst/>
            <a:cxnLst/>
            <a:rect l="l" t="t" r="r" b="b"/>
            <a:pathLst>
              <a:path w="3560049" h="1756785">
                <a:moveTo>
                  <a:pt x="0" y="0"/>
                </a:moveTo>
                <a:lnTo>
                  <a:pt x="3560049" y="0"/>
                </a:lnTo>
                <a:lnTo>
                  <a:pt x="3560049" y="1756784"/>
                </a:lnTo>
                <a:lnTo>
                  <a:pt x="0" y="17567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7000"/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19" name="Text Box 18"/>
          <p:cNvSpPr txBox="1"/>
          <p:nvPr/>
        </p:nvSpPr>
        <p:spPr>
          <a:xfrm>
            <a:off x="10475595" y="6223635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 rot="0"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097280" y="137160"/>
            <a:ext cx="14447520" cy="777240"/>
          </a:xfrm>
          <a:prstGeom prst="rect">
            <a:avLst/>
          </a:prstGeom>
        </p:spPr>
        <p:txBody>
          <a:bodyPr wrap="square" lIns="54864" tIns="18288" rIns="54864" bIns="18288" rtlCol="0" anchor="ctr">
            <a:noAutofit/>
          </a:bodyPr>
          <a:lstStyle/>
          <a:p>
            <a:pPr algn="ctr">
              <a:lnSpc>
                <a:spcPts val="75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0" spc="15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PROBLEM STATEMENT</a:t>
            </a:r>
            <a:endParaRPr lang="en-US" sz="2200" b="0" spc="150">
              <a:solidFill>
                <a:srgbClr val="172243"/>
              </a:solidFill>
              <a:latin typeface="Heading Now 31-38 Bold"/>
              <a:ea typeface="Heading Now 31-38 Bold"/>
              <a:cs typeface="Heading Now 31-38 Bold"/>
              <a:sym typeface="Heading Now 31-38 Bold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255295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1250" r="-11250"/>
            </a:stretch>
          </a:blipFill>
        </p:spPr>
        <p:txBody>
          <a:bodyPr/>
          <a:p/>
        </p:txBody>
      </p:sp>
      <p:sp>
        <p:nvSpPr>
          <p:cNvPr id="12" name="Freeform 12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p/>
        </p:txBody>
      </p:sp>
      <p:sp>
        <p:nvSpPr>
          <p:cNvPr id="13" name="Freeform 13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14" name="TextBox 13"/>
          <p:cNvSpPr txBox="1"/>
          <p:nvPr/>
        </p:nvSpPr>
        <p:spPr>
          <a:xfrm>
            <a:off x="822960" y="1234440"/>
            <a:ext cx="16459200" cy="7772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5B3F84"/>
                </a:solidFill>
                <a:latin typeface="Aptos"/>
              </a:rPr>
              <a:t>PROMPTSHIELD: PROMPT INJECTION &amp; DATA-EXFILTRATION DEFENSE</a:t>
            </a:r>
            <a:endParaRPr sz="3200" b="1">
              <a:solidFill>
                <a:srgbClr val="5B3F84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05840" y="2057400"/>
            <a:ext cx="14447520" cy="5943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5B3F84"/>
                </a:solidFill>
                <a:latin typeface="Aptos"/>
              </a:rPr>
              <a:t>THE PROBLEM</a:t>
            </a:r>
            <a:endParaRPr sz="3200" b="1">
              <a:solidFill>
                <a:srgbClr val="5B3F84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3400" y="7476490"/>
            <a:ext cx="15544800" cy="117221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2B272F"/>
                </a:solidFill>
                <a:latin typeface="Aptos"/>
              </a:rPr>
              <a:t>Untrusted prompts, retrieved documents and tool outputs can attempt to override rules, reveal protected information or exfiltrate data.</a:t>
            </a:r>
            <a:endParaRPr sz="3200" b="0">
              <a:solidFill>
                <a:srgbClr val="2B272F"/>
              </a:solidFill>
              <a:latin typeface="Aptos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custDataLst>
              <p:tags r:id="rId11"/>
            </p:custDataLst>
          </p:nvPr>
        </p:nvGraphicFramePr>
        <p:xfrm>
          <a:off x="1097280" y="2788920"/>
          <a:ext cx="15544800" cy="4330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3450"/>
                <a:gridCol w="5732145"/>
                <a:gridCol w="6339205"/>
              </a:tblGrid>
              <a:tr h="866140"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Aptos"/>
                        </a:rPr>
                        <a:t>Threat vector</a:t>
                      </a:r>
                      <a:endParaRPr sz="220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5B3F8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Aptos"/>
                        </a:rPr>
                        <a:t>Example / risk</a:t>
                      </a:r>
                      <a:endParaRPr sz="220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5B3F8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Aptos"/>
                        </a:rPr>
                        <a:t>PromptShield response</a:t>
                      </a:r>
                      <a:endParaRPr sz="220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5B3F84"/>
                    </a:solidFill>
                  </a:tcPr>
                </a:tc>
              </a:tr>
              <a:tr h="866140"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2000" b="0">
                          <a:solidFill>
                            <a:srgbClr val="2B272F"/>
                          </a:solidFill>
                          <a:latin typeface="Aptos"/>
                        </a:rPr>
                        <a:t>Direct override</a:t>
                      </a:r>
                      <a:endParaRPr sz="20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AF7E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2000" b="0">
                          <a:solidFill>
                            <a:srgbClr val="2B272F"/>
                          </a:solidFill>
                          <a:latin typeface="Aptos"/>
                        </a:rPr>
                        <a:t>“Ignore previous instructions”</a:t>
                      </a:r>
                      <a:endParaRPr sz="20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AF7E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2000" b="0">
                          <a:solidFill>
                            <a:srgbClr val="2B272F"/>
                          </a:solidFill>
                          <a:latin typeface="Aptos"/>
                        </a:rPr>
                        <a:t>Detect and block / escalate</a:t>
                      </a:r>
                      <a:endParaRPr sz="20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AF7EF"/>
                    </a:solidFill>
                  </a:tcPr>
                </a:tc>
              </a:tr>
              <a:tr h="866140"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2000" b="0">
                          <a:solidFill>
                            <a:srgbClr val="2B272F"/>
                          </a:solidFill>
                          <a:latin typeface="Aptos"/>
                        </a:rPr>
                        <a:t>Secret extraction</a:t>
                      </a:r>
                      <a:endParaRPr sz="20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2EEF7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2000" b="0">
                          <a:solidFill>
                            <a:srgbClr val="2B272F"/>
                          </a:solidFill>
                          <a:latin typeface="Aptos"/>
                        </a:rPr>
                        <a:t>Request for protected prompts or keys</a:t>
                      </a:r>
                      <a:endParaRPr sz="20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2EEF7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2000" b="0">
                          <a:solidFill>
                            <a:srgbClr val="2B272F"/>
                          </a:solidFill>
                          <a:latin typeface="Aptos"/>
                        </a:rPr>
                        <a:t>Block disclosure</a:t>
                      </a:r>
                      <a:endParaRPr sz="20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2EEF7"/>
                    </a:solidFill>
                  </a:tcPr>
                </a:tc>
              </a:tr>
              <a:tr h="866140"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2000" b="0">
                          <a:solidFill>
                            <a:srgbClr val="2B272F"/>
                          </a:solidFill>
                          <a:latin typeface="Aptos"/>
                        </a:rPr>
                        <a:t>Indirect injection</a:t>
                      </a:r>
                      <a:endParaRPr sz="20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AF7E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2000" b="0">
                          <a:solidFill>
                            <a:srgbClr val="2B272F"/>
                          </a:solidFill>
                          <a:latin typeface="Aptos"/>
                        </a:rPr>
                        <a:t>Malicious RAG document or tool output</a:t>
                      </a:r>
                      <a:endParaRPr sz="20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AF7E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2000" b="0">
                          <a:solidFill>
                            <a:srgbClr val="2B272F"/>
                          </a:solidFill>
                          <a:latin typeface="Aptos"/>
                        </a:rPr>
                        <a:t>Treat as untrusted data</a:t>
                      </a:r>
                      <a:endParaRPr sz="20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AF7EF"/>
                    </a:solidFill>
                  </a:tcPr>
                </a:tc>
              </a:tr>
              <a:tr h="866140"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2000" b="0">
                          <a:solidFill>
                            <a:srgbClr val="2B272F"/>
                          </a:solidFill>
                          <a:latin typeface="Aptos"/>
                        </a:rPr>
                        <a:t>Obfuscated payload</a:t>
                      </a:r>
                      <a:endParaRPr sz="20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2EEF7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2000" b="0">
                          <a:solidFill>
                            <a:srgbClr val="2B272F"/>
                          </a:solidFill>
                          <a:latin typeface="Aptos"/>
                        </a:rPr>
                        <a:t>Spacing, encoding or hidden cues</a:t>
                      </a:r>
                      <a:endParaRPr sz="20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2EEF7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2000" b="0">
                          <a:solidFill>
                            <a:srgbClr val="2B272F"/>
                          </a:solidFill>
                          <a:latin typeface="Aptos"/>
                        </a:rPr>
                        <a:t>Normalize, then inspect</a:t>
                      </a:r>
                      <a:endParaRPr sz="20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2EEF7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85800" y="8877300"/>
            <a:ext cx="15544800" cy="9880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B3F84"/>
                </a:solidFill>
                <a:latin typeface="Aptos"/>
              </a:rPr>
              <a:t>SECURITY PRINCIPLE  •  Untrusted content is data, not policy.</a:t>
            </a:r>
            <a:endParaRPr sz="3000" b="1">
              <a:solidFill>
                <a:srgbClr val="5B3F8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 rot="0"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255295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1250" r="-11250"/>
            </a:stretch>
          </a:blipFill>
        </p:spPr>
        <p:txBody>
          <a:bodyPr/>
          <a:p/>
        </p:txBody>
      </p:sp>
      <p:sp>
        <p:nvSpPr>
          <p:cNvPr id="12" name="Freeform 12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p/>
        </p:txBody>
      </p:sp>
      <p:sp>
        <p:nvSpPr>
          <p:cNvPr id="13" name="Freeform 13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14" name="TextBox 13"/>
          <p:cNvSpPr txBox="1"/>
          <p:nvPr/>
        </p:nvSpPr>
        <p:spPr>
          <a:xfrm>
            <a:off x="381000" y="307975"/>
            <a:ext cx="16459200" cy="7772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5B3F84"/>
                </a:solidFill>
                <a:latin typeface="Aptos"/>
              </a:rPr>
              <a:t>PROPOSED SOLUTION: PROMPTSHIELD</a:t>
            </a:r>
            <a:endParaRPr sz="3700" b="1">
              <a:solidFill>
                <a:srgbClr val="5B3F84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9600" y="6983730"/>
            <a:ext cx="15544800" cy="977265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2B272F"/>
                </a:solidFill>
                <a:latin typeface="Aptos"/>
              </a:rPr>
              <a:t>A local-first gateway inspects input and output, applies source-aware policy, and records explainable decisions.</a:t>
            </a:r>
            <a:endParaRPr sz="3200" b="0">
              <a:solidFill>
                <a:srgbClr val="2B272F"/>
              </a:solidFill>
              <a:latin typeface="Aptos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custDataLst>
              <p:tags r:id="rId11"/>
            </p:custDataLst>
          </p:nvPr>
        </p:nvGraphicFramePr>
        <p:xfrm>
          <a:off x="1097280" y="2331720"/>
          <a:ext cx="15544800" cy="4200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8760"/>
                <a:gridCol w="5210810"/>
                <a:gridCol w="7555230"/>
              </a:tblGrid>
              <a:tr h="840105"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Aptos"/>
                        </a:rPr>
                        <a:t>Decision</a:t>
                      </a:r>
                      <a:endParaRPr sz="220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5B3F8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Aptos"/>
                        </a:rPr>
                        <a:t>Meaning</a:t>
                      </a:r>
                      <a:endParaRPr sz="220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5B3F8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Aptos"/>
                        </a:rPr>
                        <a:t>Typical use</a:t>
                      </a:r>
                      <a:endParaRPr sz="220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5B3F84"/>
                    </a:solidFill>
                  </a:tcPr>
                </a:tc>
              </a:tr>
              <a:tr h="840105"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2000" b="0">
                          <a:solidFill>
                            <a:srgbClr val="2B272F"/>
                          </a:solidFill>
                          <a:latin typeface="Aptos"/>
                        </a:rPr>
                        <a:t>ALLOW</a:t>
                      </a:r>
                      <a:endParaRPr sz="20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AF7E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2000" b="0">
                          <a:solidFill>
                            <a:srgbClr val="2B272F"/>
                          </a:solidFill>
                          <a:latin typeface="Aptos"/>
                        </a:rPr>
                        <a:t>Continue request</a:t>
                      </a:r>
                      <a:endParaRPr sz="20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AF7E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2000" b="0">
                          <a:solidFill>
                            <a:srgbClr val="2B272F"/>
                          </a:solidFill>
                          <a:latin typeface="Aptos"/>
                        </a:rPr>
                        <a:t>Policy permits it</a:t>
                      </a:r>
                      <a:endParaRPr sz="20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AF7EF"/>
                    </a:solidFill>
                  </a:tcPr>
                </a:tc>
              </a:tr>
              <a:tr h="840105"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2000" b="0">
                          <a:solidFill>
                            <a:srgbClr val="2B272F"/>
                          </a:solidFill>
                          <a:latin typeface="Aptos"/>
                        </a:rPr>
                        <a:t>BLOCK</a:t>
                      </a:r>
                      <a:endParaRPr sz="20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2EEF7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2000" b="0">
                          <a:solidFill>
                            <a:srgbClr val="2B272F"/>
                          </a:solidFill>
                          <a:latin typeface="Aptos"/>
                        </a:rPr>
                        <a:t>Stop request/action</a:t>
                      </a:r>
                      <a:endParaRPr sz="20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2EEF7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2000" b="0">
                          <a:solidFill>
                            <a:srgbClr val="2B272F"/>
                          </a:solidFill>
                          <a:latin typeface="Aptos"/>
                        </a:rPr>
                        <a:t>High-confidence attack</a:t>
                      </a:r>
                      <a:endParaRPr sz="20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2EEF7"/>
                    </a:solidFill>
                  </a:tcPr>
                </a:tc>
              </a:tr>
              <a:tr h="840105"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2000" b="0">
                          <a:solidFill>
                            <a:srgbClr val="2B272F"/>
                          </a:solidFill>
                          <a:latin typeface="Aptos"/>
                        </a:rPr>
                        <a:t>SANITIZE</a:t>
                      </a:r>
                      <a:endParaRPr sz="20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AF7E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2000" b="0">
                          <a:solidFill>
                            <a:srgbClr val="2B272F"/>
                          </a:solidFill>
                          <a:latin typeface="Aptos"/>
                        </a:rPr>
                        <a:t>Remove hostile directive</a:t>
                      </a:r>
                      <a:endParaRPr sz="20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AF7E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2000" b="0">
                          <a:solidFill>
                            <a:srgbClr val="2B272F"/>
                          </a:solidFill>
                          <a:latin typeface="Aptos"/>
                        </a:rPr>
                        <a:t>Useful content can be retained</a:t>
                      </a:r>
                      <a:endParaRPr sz="20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AF7EF"/>
                    </a:solidFill>
                  </a:tcPr>
                </a:tc>
              </a:tr>
              <a:tr h="840105"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2000" b="0">
                          <a:solidFill>
                            <a:srgbClr val="2B272F"/>
                          </a:solidFill>
                          <a:latin typeface="Aptos"/>
                        </a:rPr>
                        <a:t>ESCALATE</a:t>
                      </a:r>
                      <a:endParaRPr sz="20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2EEF7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2000" b="0">
                          <a:solidFill>
                            <a:srgbClr val="2B272F"/>
                          </a:solidFill>
                          <a:latin typeface="Aptos"/>
                        </a:rPr>
                        <a:t>Send for review</a:t>
                      </a:r>
                      <a:endParaRPr sz="20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2EEF7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2000" b="0">
                          <a:solidFill>
                            <a:srgbClr val="2B272F"/>
                          </a:solidFill>
                          <a:latin typeface="Aptos"/>
                        </a:rPr>
                        <a:t>Ambiguous or high-impact case</a:t>
                      </a:r>
                      <a:endParaRPr sz="20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2EEF7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57200" y="8420100"/>
            <a:ext cx="15544800" cy="956945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B272F"/>
                </a:solidFill>
                <a:latin typeface="Aptos"/>
              </a:rPr>
              <a:t>Differentiators: source trust • bidirectional checks • configurable policy • local processing.</a:t>
            </a:r>
            <a:endParaRPr sz="3000" b="1">
              <a:solidFill>
                <a:srgbClr val="2B272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1435" y="-1143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 rot="0">
            <a:off x="-5469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-27432000" y="-27432000"/>
            <a:ext cx="14447520" cy="914400"/>
          </a:xfrm>
          <a:prstGeom prst="rect">
            <a:avLst/>
          </a:prstGeom>
        </p:spPr>
        <p:txBody>
          <a:bodyPr wrap="square" lIns="36576" tIns="18288" rIns="36576" bIns="18288" rtlCol="0" anchor="t"/>
          <a:lstStyle/>
          <a:p>
            <a:pPr algn="ctr">
              <a:lnSpc>
                <a:spcPts val="7500"/>
              </a:lnSpc>
              <a:spcAft>
                <a:spcPts val="600"/>
              </a:spcAft>
            </a:pPr>
          </a:p>
        </p:txBody>
      </p:sp>
      <p:sp>
        <p:nvSpPr>
          <p:cNvPr id="11" name="Freeform 11"/>
          <p:cNvSpPr/>
          <p:nvPr/>
        </p:nvSpPr>
        <p:spPr>
          <a:xfrm>
            <a:off x="257365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1250" r="-11250"/>
            </a:stretch>
          </a:blipFill>
        </p:spPr>
        <p:txBody>
          <a:bodyPr/>
          <a:p/>
        </p:txBody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68000"/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p/>
        </p:txBody>
      </p:sp>
      <p:sp>
        <p:nvSpPr>
          <p:cNvPr id="14" name="TextBox 13"/>
          <p:cNvSpPr txBox="1"/>
          <p:nvPr/>
        </p:nvSpPr>
        <p:spPr>
          <a:xfrm>
            <a:off x="257175" y="244475"/>
            <a:ext cx="16459200" cy="7772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5B3F84"/>
                </a:solidFill>
                <a:latin typeface="Aptos"/>
              </a:rPr>
              <a:t>TECHNICAL APPROACH</a:t>
            </a:r>
            <a:endParaRPr sz="3700" b="1">
              <a:solidFill>
                <a:srgbClr val="5B3F84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8680" y="2087880"/>
            <a:ext cx="14447520" cy="90678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2B272F"/>
                </a:solidFill>
                <a:latin typeface="Aptos"/>
              </a:rPr>
              <a:t>Four-stage trust-aware pipeline</a:t>
            </a:r>
            <a:endParaRPr sz="3100" b="0">
              <a:solidFill>
                <a:srgbClr val="2B272F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62000" y="3543300"/>
            <a:ext cx="2971800" cy="2496185"/>
          </a:xfrm>
          <a:prstGeom prst="roundRect">
            <a:avLst/>
          </a:prstGeom>
          <a:solidFill>
            <a:srgbClr val="F5F1F9"/>
          </a:solidFill>
          <a:ln>
            <a:solidFill>
              <a:srgbClr val="AA9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5B3F84"/>
                </a:solidFill>
                <a:latin typeface="Aptos"/>
              </a:rPr>
              <a:t>1  NORMALIZE</a:t>
            </a:r>
            <a:endParaRPr sz="2300" b="1">
              <a:solidFill>
                <a:srgbClr val="5B3F84"/>
              </a:solidFill>
              <a:latin typeface="Aptos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B272F"/>
                </a:solidFill>
                <a:latin typeface="Aptos"/>
              </a:rPr>
              <a:t>Unicode, whitespace,</a:t>
            </a:r>
            <a:br>
              <a:rPr sz="2300" b="1">
                <a:solidFill>
                  <a:srgbClr val="2B272F"/>
                </a:solidFill>
                <a:latin typeface="Aptos"/>
              </a:rPr>
            </a:br>
            <a:r>
              <a:rPr sz="2300" b="1">
                <a:solidFill>
                  <a:srgbClr val="2B272F"/>
                </a:solidFill>
                <a:latin typeface="Aptos"/>
              </a:rPr>
              <a:t>selected encodings</a:t>
            </a:r>
            <a:endParaRPr sz="2300" b="1">
              <a:solidFill>
                <a:srgbClr val="2B272F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38600" y="4229100"/>
            <a:ext cx="594360" cy="5029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5B3F84"/>
                </a:solidFill>
                <a:latin typeface="Aptos"/>
              </a:rPr>
              <a:t>→</a:t>
            </a:r>
            <a:endParaRPr sz="3400" b="1">
              <a:solidFill>
                <a:srgbClr val="5B3F84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876800" y="3496310"/>
            <a:ext cx="2971800" cy="2448560"/>
          </a:xfrm>
          <a:prstGeom prst="roundRect">
            <a:avLst/>
          </a:prstGeom>
          <a:solidFill>
            <a:srgbClr val="F5F1F9"/>
          </a:solidFill>
          <a:ln>
            <a:solidFill>
              <a:srgbClr val="AA9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5B3F84"/>
                </a:solidFill>
                <a:latin typeface="Aptos"/>
              </a:rPr>
              <a:t>2  INSPECT</a:t>
            </a:r>
            <a:endParaRPr sz="2300" b="1">
              <a:solidFill>
                <a:srgbClr val="5B3F84"/>
              </a:solidFill>
              <a:latin typeface="Aptos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B272F"/>
                </a:solidFill>
                <a:latin typeface="Aptos"/>
              </a:rPr>
              <a:t>Rules + optional</a:t>
            </a:r>
            <a:br>
              <a:rPr sz="2300" b="1">
                <a:solidFill>
                  <a:srgbClr val="2B272F"/>
                </a:solidFill>
                <a:latin typeface="Aptos"/>
              </a:rPr>
            </a:br>
            <a:r>
              <a:rPr sz="2300" b="1">
                <a:solidFill>
                  <a:srgbClr val="2B272F"/>
                </a:solidFill>
                <a:latin typeface="Aptos"/>
              </a:rPr>
              <a:t>local classifier</a:t>
            </a:r>
            <a:endParaRPr sz="2300" b="1">
              <a:solidFill>
                <a:srgbClr val="2B272F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77199" y="4000500"/>
            <a:ext cx="594360" cy="5029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5B3F84"/>
                </a:solidFill>
                <a:latin typeface="Aptos"/>
              </a:rPr>
              <a:t>→</a:t>
            </a:r>
            <a:endParaRPr sz="3400" b="1">
              <a:solidFill>
                <a:srgbClr val="5B3F84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051290" y="3486150"/>
            <a:ext cx="2971800" cy="2468880"/>
          </a:xfrm>
          <a:prstGeom prst="roundRect">
            <a:avLst/>
          </a:prstGeom>
          <a:solidFill>
            <a:srgbClr val="F5F1F9"/>
          </a:solidFill>
          <a:ln>
            <a:solidFill>
              <a:srgbClr val="AA9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5B3F84"/>
                </a:solidFill>
                <a:latin typeface="Aptos"/>
              </a:rPr>
              <a:t>3  ARBITRATE</a:t>
            </a:r>
            <a:endParaRPr sz="2300" b="1">
              <a:solidFill>
                <a:srgbClr val="5B3F84"/>
              </a:solidFill>
              <a:latin typeface="Aptos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B272F"/>
                </a:solidFill>
                <a:latin typeface="Aptos"/>
              </a:rPr>
              <a:t>Trust level + policy</a:t>
            </a:r>
            <a:br>
              <a:rPr sz="2300" b="1">
                <a:solidFill>
                  <a:srgbClr val="2B272F"/>
                </a:solidFill>
                <a:latin typeface="Aptos"/>
              </a:rPr>
            </a:br>
            <a:r>
              <a:rPr sz="2300" b="1">
                <a:solidFill>
                  <a:srgbClr val="2B272F"/>
                </a:solidFill>
                <a:latin typeface="Aptos"/>
              </a:rPr>
              <a:t>→ decision</a:t>
            </a:r>
            <a:endParaRPr sz="2300" b="1">
              <a:solidFill>
                <a:srgbClr val="2B272F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344400" y="4152900"/>
            <a:ext cx="594360" cy="5029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5B3F84"/>
                </a:solidFill>
                <a:latin typeface="Aptos"/>
              </a:rPr>
              <a:t>→</a:t>
            </a:r>
            <a:endParaRPr sz="3400" b="1">
              <a:solidFill>
                <a:srgbClr val="5B3F84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3142595" y="3390900"/>
            <a:ext cx="2971800" cy="2453640"/>
          </a:xfrm>
          <a:prstGeom prst="roundRect">
            <a:avLst/>
          </a:prstGeom>
          <a:solidFill>
            <a:srgbClr val="F5F1F9"/>
          </a:solidFill>
          <a:ln>
            <a:solidFill>
              <a:srgbClr val="AA9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5B3F84"/>
                </a:solidFill>
                <a:latin typeface="Aptos"/>
              </a:rPr>
              <a:t>4  CHECK OUTPUT</a:t>
            </a:r>
            <a:endParaRPr sz="2300" b="1">
              <a:solidFill>
                <a:srgbClr val="5B3F84"/>
              </a:solidFill>
              <a:latin typeface="Aptos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B272F"/>
                </a:solidFill>
                <a:latin typeface="Aptos"/>
              </a:rPr>
              <a:t>Secrets + canary</a:t>
            </a:r>
            <a:br>
              <a:rPr sz="2300" b="1">
                <a:solidFill>
                  <a:srgbClr val="2B272F"/>
                </a:solidFill>
                <a:latin typeface="Aptos"/>
              </a:rPr>
            </a:br>
            <a:r>
              <a:rPr sz="2300" b="1">
                <a:solidFill>
                  <a:srgbClr val="2B272F"/>
                </a:solidFill>
                <a:latin typeface="Aptos"/>
              </a:rPr>
              <a:t>scan</a:t>
            </a:r>
            <a:endParaRPr sz="2300" b="1">
              <a:solidFill>
                <a:srgbClr val="2B272F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7046595"/>
            <a:ext cx="14630400" cy="5943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B3F84"/>
                </a:solidFill>
                <a:latin typeface="Aptos"/>
              </a:rPr>
              <a:t>SECURITY INVARIANT</a:t>
            </a:r>
            <a:endParaRPr sz="3000" b="1">
              <a:solidFill>
                <a:srgbClr val="5B3F84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09600" y="7429500"/>
            <a:ext cx="15544800" cy="1509395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2B272F"/>
                </a:solidFill>
                <a:latin typeface="Aptos"/>
              </a:rPr>
              <a:t>Untrusted content must never modify the policy that evaluates it.</a:t>
            </a:r>
            <a:endParaRPr sz="3000" b="0">
              <a:solidFill>
                <a:srgbClr val="2B272F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9600" y="8648700"/>
            <a:ext cx="15544800" cy="123317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2B272F"/>
                </a:solidFill>
                <a:latin typeface="Aptos"/>
              </a:rPr>
              <a:t>Inspect incoming content and generated output; enforce authorization at the tool boundary.</a:t>
            </a:r>
            <a:endParaRPr sz="2900" b="0">
              <a:solidFill>
                <a:srgbClr val="2B272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0" y="0"/>
            <a:ext cx="1750048" cy="9860652"/>
          </a:xfrm>
          <a:custGeom>
            <a:avLst/>
            <a:gdLst/>
            <a:ahLst/>
            <a:cxnLst/>
            <a:rect l="l" t="t" r="r" b="b"/>
            <a:pathLst>
              <a:path w="1750048" h="9860652">
                <a:moveTo>
                  <a:pt x="0" y="0"/>
                </a:moveTo>
                <a:lnTo>
                  <a:pt x="1750048" y="0"/>
                </a:lnTo>
                <a:lnTo>
                  <a:pt x="1750048" y="9860652"/>
                </a:lnTo>
                <a:lnTo>
                  <a:pt x="0" y="98606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p/>
        </p:txBody>
      </p:sp>
      <p:sp>
        <p:nvSpPr>
          <p:cNvPr id="4" name="Freeform 4"/>
          <p:cNvSpPr/>
          <p:nvPr/>
        </p:nvSpPr>
        <p:spPr>
          <a:xfrm>
            <a:off x="0" y="7046873"/>
            <a:ext cx="1312536" cy="3432644"/>
          </a:xfrm>
          <a:custGeom>
            <a:avLst/>
            <a:gdLst/>
            <a:ahLst/>
            <a:cxnLst/>
            <a:rect l="l" t="t" r="r" b="b"/>
            <a:pathLst>
              <a:path w="1312536" h="3432644">
                <a:moveTo>
                  <a:pt x="0" y="0"/>
                </a:moveTo>
                <a:lnTo>
                  <a:pt x="1312536" y="0"/>
                </a:lnTo>
                <a:lnTo>
                  <a:pt x="1312536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p/>
        </p:txBody>
      </p:sp>
      <p:grpSp>
        <p:nvGrpSpPr>
          <p:cNvPr id="5" name="Group 5"/>
          <p:cNvGrpSpPr/>
          <p:nvPr/>
        </p:nvGrpSpPr>
        <p:grpSpPr>
          <a:xfrm rot="0">
            <a:off x="13059732" y="5455062"/>
            <a:ext cx="5228268" cy="4848336"/>
            <a:chOff x="0" y="0"/>
            <a:chExt cx="6971024" cy="6464448"/>
          </a:xfrm>
        </p:grpSpPr>
        <p:sp>
          <p:nvSpPr>
            <p:cNvPr id="6" name="Freeform 6"/>
            <p:cNvSpPr/>
            <p:nvPr/>
          </p:nvSpPr>
          <p:spPr>
            <a:xfrm>
              <a:off x="1735464" y="1574206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2122415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5220976" y="0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8"/>
                  </a:lnTo>
                  <a:lnTo>
                    <a:pt x="0" y="5451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4862945" y="2122415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7" y="0"/>
                  </a:lnTo>
                  <a:lnTo>
                    <a:pt x="1472957" y="3162989"/>
                  </a:lnTo>
                  <a:lnTo>
                    <a:pt x="0" y="3162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334880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1250" r="-11250"/>
            </a:stretch>
          </a:blipFill>
        </p:spPr>
        <p:txBody>
          <a:bodyPr/>
          <a:p/>
        </p:txBody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68000"/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p/>
        </p:txBody>
      </p:sp>
      <p:sp>
        <p:nvSpPr>
          <p:cNvPr id="14" name="TextBox 13"/>
          <p:cNvSpPr txBox="1"/>
          <p:nvPr/>
        </p:nvSpPr>
        <p:spPr>
          <a:xfrm>
            <a:off x="228600" y="242570"/>
            <a:ext cx="16459200" cy="7772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5B3F84"/>
                </a:solidFill>
                <a:latin typeface="Aptos"/>
              </a:rPr>
              <a:t>FEASIBILITY &amp; VIABILITY</a:t>
            </a:r>
            <a:endParaRPr sz="3700" b="1">
              <a:solidFill>
                <a:srgbClr val="5B3F84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8625" y="1738630"/>
            <a:ext cx="15024735" cy="91313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2B272F"/>
                </a:solidFill>
                <a:latin typeface="Aptos"/>
              </a:rPr>
              <a:t>Local-first, CPU-friendly deployment concept</a:t>
            </a:r>
            <a:endParaRPr sz="3100" b="0">
              <a:solidFill>
                <a:srgbClr val="2B272F"/>
              </a:solidFill>
              <a:latin typeface="Aptos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custDataLst>
              <p:tags r:id="rId11"/>
            </p:custDataLst>
          </p:nvPr>
        </p:nvGraphicFramePr>
        <p:xfrm>
          <a:off x="1097280" y="2933700"/>
          <a:ext cx="15544800" cy="4816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2400"/>
                <a:gridCol w="6686550"/>
                <a:gridCol w="6165850"/>
              </a:tblGrid>
              <a:tr h="963295"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Aptos"/>
                        </a:rPr>
                        <a:t>Area</a:t>
                      </a:r>
                      <a:endParaRPr sz="210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5B3F8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Aptos"/>
                        </a:rPr>
                        <a:t>Approach</a:t>
                      </a:r>
                      <a:endParaRPr sz="210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5B3F8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Aptos"/>
                        </a:rPr>
                        <a:t>Validation needed</a:t>
                      </a:r>
                      <a:endParaRPr sz="210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5B3F84"/>
                    </a:solidFill>
                  </a:tcPr>
                </a:tc>
              </a:tr>
              <a:tr h="963295"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900" b="0">
                          <a:solidFill>
                            <a:srgbClr val="2B272F"/>
                          </a:solidFill>
                          <a:latin typeface="Aptos"/>
                        </a:rPr>
                        <a:t>Processing</a:t>
                      </a:r>
                      <a:endParaRPr sz="19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AF7E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900" b="0">
                          <a:solidFill>
                            <a:srgbClr val="2B272F"/>
                          </a:solidFill>
                          <a:latin typeface="Aptos"/>
                        </a:rPr>
                        <a:t>Local rules / optional lightweight classifier</a:t>
                      </a:r>
                      <a:endParaRPr sz="19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AF7E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900" b="0">
                          <a:solidFill>
                            <a:srgbClr val="2B272F"/>
                          </a:solidFill>
                          <a:latin typeface="Aptos"/>
                        </a:rPr>
                        <a:t>Run without paid guard API</a:t>
                      </a:r>
                      <a:endParaRPr sz="19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AF7EF"/>
                    </a:solidFill>
                  </a:tcPr>
                </a:tc>
              </a:tr>
              <a:tr h="963295"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900" b="0">
                          <a:solidFill>
                            <a:srgbClr val="2B272F"/>
                          </a:solidFill>
                          <a:latin typeface="Aptos"/>
                        </a:rPr>
                        <a:t>Integration</a:t>
                      </a:r>
                      <a:endParaRPr sz="19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2EEF7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900" b="0">
                          <a:solidFill>
                            <a:srgbClr val="2B272F"/>
                          </a:solidFill>
                          <a:latin typeface="Aptos"/>
                        </a:rPr>
                        <a:t>OpenAI-compatible proxy concept</a:t>
                      </a:r>
                      <a:endParaRPr sz="19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2EEF7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900" b="0">
                          <a:solidFill>
                            <a:srgbClr val="2B272F"/>
                          </a:solidFill>
                          <a:latin typeface="Aptos"/>
                        </a:rPr>
                        <a:t>Verify endpoint compatibility</a:t>
                      </a:r>
                      <a:endParaRPr sz="19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2EEF7"/>
                    </a:solidFill>
                  </a:tcPr>
                </a:tc>
              </a:tr>
              <a:tr h="963295"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900" b="0">
                          <a:solidFill>
                            <a:srgbClr val="2B272F"/>
                          </a:solidFill>
                          <a:latin typeface="Aptos"/>
                        </a:rPr>
                        <a:t>Test data</a:t>
                      </a:r>
                      <a:endParaRPr sz="19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AF7E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900" b="0">
                          <a:solidFill>
                            <a:srgbClr val="2B272F"/>
                          </a:solidFill>
                          <a:latin typeface="Aptos"/>
                        </a:rPr>
                        <a:t>Synthetic attacks and fictional secrets</a:t>
                      </a:r>
                      <a:endParaRPr sz="19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AF7E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900" b="0">
                          <a:solidFill>
                            <a:srgbClr val="2B272F"/>
                          </a:solidFill>
                          <a:latin typeface="Aptos"/>
                        </a:rPr>
                        <a:t>Repeatable labelled dataset</a:t>
                      </a:r>
                      <a:endParaRPr sz="19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AF7EF"/>
                    </a:solidFill>
                  </a:tcPr>
                </a:tc>
              </a:tr>
              <a:tr h="963295"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900" b="0">
                          <a:solidFill>
                            <a:srgbClr val="2B272F"/>
                          </a:solidFill>
                          <a:latin typeface="Aptos"/>
                        </a:rPr>
                        <a:t>Audit</a:t>
                      </a:r>
                      <a:endParaRPr sz="19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2EEF7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900" b="0">
                          <a:solidFill>
                            <a:srgbClr val="2B272F"/>
                          </a:solidFill>
                          <a:latin typeface="Aptos"/>
                        </a:rPr>
                        <a:t>Decision, category and request ID</a:t>
                      </a:r>
                      <a:endParaRPr sz="19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2EEF7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900" b="0">
                          <a:solidFill>
                            <a:srgbClr val="2B272F"/>
                          </a:solidFill>
                          <a:latin typeface="Aptos"/>
                        </a:rPr>
                        <a:t>Confirm logging/privacy behaviour</a:t>
                      </a:r>
                      <a:endParaRPr sz="19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2EEF7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914400" y="7962900"/>
            <a:ext cx="15544800" cy="114300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2B272F"/>
                </a:solidFill>
                <a:latin typeface="Aptos"/>
              </a:rPr>
              <a:t>Do not claim latency, accuracy, endpoint or file-format support until verified on the final build.</a:t>
            </a:r>
            <a:endParaRPr sz="3000" b="0">
              <a:solidFill>
                <a:srgbClr val="2B272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 rot="0">
            <a:off x="1295400" y="-19050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355509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49" y="0"/>
                </a:lnTo>
                <a:lnTo>
                  <a:pt x="5020449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1250" r="-11250"/>
            </a:stretch>
          </a:blipFill>
        </p:spPr>
        <p:txBody>
          <a:bodyPr/>
          <a:p/>
        </p:txBody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68000"/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p/>
        </p:txBody>
      </p:sp>
      <p:sp>
        <p:nvSpPr>
          <p:cNvPr id="14" name="TextBox 13"/>
          <p:cNvSpPr txBox="1"/>
          <p:nvPr/>
        </p:nvSpPr>
        <p:spPr>
          <a:xfrm>
            <a:off x="381000" y="190500"/>
            <a:ext cx="16459200" cy="110617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5B3F84"/>
                </a:solidFill>
                <a:latin typeface="Aptos"/>
              </a:rPr>
              <a:t>IMPACT &amp; BENEFITS</a:t>
            </a:r>
            <a:endParaRPr sz="3700" b="1">
              <a:solidFill>
                <a:srgbClr val="5B3F84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5600" y="2635885"/>
            <a:ext cx="14447520" cy="12903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2B272F"/>
                </a:solidFill>
                <a:latin typeface="Aptos"/>
              </a:rPr>
              <a:t>How PromptShield creates value</a:t>
            </a:r>
            <a:endParaRPr sz="3600" b="0">
              <a:solidFill>
                <a:srgbClr val="2B272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19200" y="4530090"/>
            <a:ext cx="429768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5B3F84"/>
                </a:solidFill>
                <a:latin typeface="Aptos"/>
              </a:rPr>
              <a:t>Confidentiality</a:t>
            </a:r>
            <a:endParaRPr sz="2900" b="1">
              <a:solidFill>
                <a:srgbClr val="5B3F84"/>
              </a:solidFill>
              <a:latin typeface="Apto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257800" y="4710938"/>
            <a:ext cx="219456" cy="219456"/>
          </a:xfrm>
          <a:prstGeom prst="rect">
            <a:avLst/>
          </a:prstGeom>
          <a:solidFill>
            <a:srgbClr val="5B3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324600" y="4554855"/>
            <a:ext cx="1060704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2B272F"/>
                </a:solidFill>
                <a:latin typeface="Aptos"/>
              </a:rPr>
              <a:t>Protect prompts and secrets</a:t>
            </a:r>
            <a:endParaRPr sz="2900" b="0">
              <a:solidFill>
                <a:srgbClr val="2B272F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79830" y="5462905"/>
            <a:ext cx="429768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5B3F84"/>
                </a:solidFill>
                <a:latin typeface="Aptos"/>
              </a:rPr>
              <a:t>Context preservation</a:t>
            </a:r>
            <a:endParaRPr sz="2900" b="1">
              <a:solidFill>
                <a:srgbClr val="5B3F84"/>
              </a:solidFill>
              <a:latin typeface="Apto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257800" y="5651373"/>
            <a:ext cx="219456" cy="219456"/>
          </a:xfrm>
          <a:prstGeom prst="rect">
            <a:avLst/>
          </a:prstGeom>
          <a:solidFill>
            <a:srgbClr val="5B3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172200" y="5460365"/>
            <a:ext cx="1060704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2B272F"/>
                </a:solidFill>
                <a:latin typeface="Aptos"/>
              </a:rPr>
              <a:t>Retain safe document content</a:t>
            </a:r>
            <a:endParaRPr sz="2900" b="0">
              <a:solidFill>
                <a:srgbClr val="2B272F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43000" y="6395720"/>
            <a:ext cx="4251960" cy="63182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5B3F84"/>
                </a:solidFill>
                <a:latin typeface="Aptos"/>
              </a:rPr>
              <a:t>Auditability</a:t>
            </a:r>
            <a:endParaRPr sz="2900" b="1">
              <a:solidFill>
                <a:srgbClr val="5B3F84"/>
              </a:solidFill>
              <a:latin typeface="Apto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257800" y="6591173"/>
            <a:ext cx="219456" cy="219456"/>
          </a:xfrm>
          <a:prstGeom prst="rect">
            <a:avLst/>
          </a:prstGeom>
          <a:solidFill>
            <a:srgbClr val="5B3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140450" y="6479540"/>
            <a:ext cx="1060704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2B272F"/>
                </a:solidFill>
                <a:latin typeface="Aptos"/>
              </a:rPr>
              <a:t>Explain and record decisions</a:t>
            </a:r>
            <a:endParaRPr sz="2900" b="0">
              <a:solidFill>
                <a:srgbClr val="2B272F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43000" y="7277100"/>
            <a:ext cx="4769485" cy="5670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5B3F84"/>
                </a:solidFill>
                <a:latin typeface="Aptos"/>
              </a:rPr>
              <a:t>Source awareness</a:t>
            </a:r>
            <a:endParaRPr sz="2900" b="1">
              <a:solidFill>
                <a:srgbClr val="5B3F84"/>
              </a:solidFill>
              <a:latin typeface="Apto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257800" y="7505573"/>
            <a:ext cx="219456" cy="219456"/>
          </a:xfrm>
          <a:prstGeom prst="rect">
            <a:avLst/>
          </a:prstGeom>
          <a:solidFill>
            <a:srgbClr val="5B3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140450" y="7277100"/>
            <a:ext cx="1060704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2B272F"/>
                </a:solidFill>
                <a:latin typeface="Aptos"/>
              </a:rPr>
              <a:t>Treat content by trust level</a:t>
            </a:r>
            <a:endParaRPr sz="2900" b="0">
              <a:solidFill>
                <a:srgbClr val="2B272F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97280" y="8267700"/>
            <a:ext cx="429768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5B3F84"/>
                </a:solidFill>
                <a:latin typeface="Aptos"/>
              </a:rPr>
              <a:t>Practical deployment</a:t>
            </a:r>
            <a:endParaRPr sz="2900" b="1">
              <a:solidFill>
                <a:srgbClr val="5B3F84"/>
              </a:solidFill>
              <a:latin typeface="Apto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257800" y="8419973"/>
            <a:ext cx="219456" cy="219456"/>
          </a:xfrm>
          <a:prstGeom prst="rect">
            <a:avLst/>
          </a:prstGeom>
          <a:solidFill>
            <a:srgbClr val="5B3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6096000" y="8267700"/>
            <a:ext cx="1060704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2B272F"/>
                </a:solidFill>
                <a:latin typeface="Aptos"/>
              </a:rPr>
              <a:t>Aim for local integration</a:t>
            </a:r>
            <a:endParaRPr sz="2900" b="0">
              <a:solidFill>
                <a:srgbClr val="2B272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 rot="0"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355509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49" y="0"/>
                </a:lnTo>
                <a:lnTo>
                  <a:pt x="5020449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1250" r="-11250"/>
            </a:stretch>
          </a:blipFill>
        </p:spPr>
        <p:txBody>
          <a:bodyPr/>
          <a:p/>
        </p:txBody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68000"/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p/>
        </p:txBody>
      </p:sp>
      <p:sp>
        <p:nvSpPr>
          <p:cNvPr id="14" name="TextBox 13"/>
          <p:cNvSpPr txBox="1"/>
          <p:nvPr/>
        </p:nvSpPr>
        <p:spPr>
          <a:xfrm>
            <a:off x="228600" y="342900"/>
            <a:ext cx="16459200" cy="7772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5B3F84"/>
                </a:solidFill>
                <a:latin typeface="Aptos"/>
              </a:rPr>
              <a:t>DIFFERENTIATORS &amp; EVALUATION</a:t>
            </a:r>
            <a:endParaRPr sz="3700" b="1">
              <a:solidFill>
                <a:srgbClr val="5B3F84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04800" y="2447290"/>
            <a:ext cx="6583680" cy="5943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2B272F"/>
                </a:solidFill>
                <a:latin typeface="Aptos"/>
              </a:rPr>
              <a:t>Core differentiators</a:t>
            </a:r>
            <a:endParaRPr sz="3600" b="0">
              <a:solidFill>
                <a:srgbClr val="2B272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7650" y="3696335"/>
            <a:ext cx="6583680" cy="4197985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B272F"/>
                </a:solidFill>
                <a:latin typeface="Aptos"/>
              </a:rPr>
              <a:t>• </a:t>
            </a:r>
            <a:r>
              <a:rPr sz="3200" b="0">
                <a:solidFill>
                  <a:srgbClr val="2B272F"/>
                </a:solidFill>
                <a:latin typeface="Aptos"/>
              </a:rPr>
              <a:t>Bidirectional input/output inspection</a:t>
            </a:r>
            <a:endParaRPr sz="3200" b="0">
              <a:solidFill>
                <a:srgbClr val="2B272F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3200" b="0">
              <a:solidFill>
                <a:srgbClr val="2B272F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2B272F"/>
                </a:solidFill>
                <a:latin typeface="Aptos"/>
              </a:rPr>
              <a:t>• Source-aware policy arbitration</a:t>
            </a:r>
            <a:endParaRPr sz="3200" b="0">
              <a:solidFill>
                <a:srgbClr val="2B272F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3200" b="0">
              <a:solidFill>
                <a:srgbClr val="2B272F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2B272F"/>
                </a:solidFill>
                <a:latin typeface="Aptos"/>
              </a:rPr>
              <a:t>• Surgical sanitization of malicious directives</a:t>
            </a:r>
            <a:endParaRPr sz="3200" b="0">
              <a:solidFill>
                <a:srgbClr val="2B272F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3200" b="0">
              <a:solidFill>
                <a:srgbClr val="2B272F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2B272F"/>
                </a:solidFill>
                <a:latin typeface="Aptos"/>
              </a:rPr>
              <a:t>• Canary-token and obfuscation tests</a:t>
            </a:r>
            <a:endParaRPr sz="3200" b="0">
              <a:solidFill>
                <a:srgbClr val="2B272F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12480" y="2057400"/>
            <a:ext cx="7315200" cy="5943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2B272F"/>
                </a:solidFill>
                <a:latin typeface="Aptos"/>
              </a:rPr>
              <a:t>Evaluation metrics</a:t>
            </a:r>
            <a:endParaRPr sz="3100" b="1">
              <a:solidFill>
                <a:srgbClr val="2B272F"/>
              </a:solidFill>
              <a:latin typeface="Aptos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custDataLst>
              <p:tags r:id="rId11"/>
            </p:custDataLst>
          </p:nvPr>
        </p:nvGraphicFramePr>
        <p:xfrm>
          <a:off x="8229600" y="2788920"/>
          <a:ext cx="8046720" cy="5073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4200"/>
                <a:gridCol w="4922520"/>
              </a:tblGrid>
              <a:tr h="1014730"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Aptos"/>
                        </a:rPr>
                        <a:t>Metric</a:t>
                      </a:r>
                      <a:endParaRPr sz="210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5B3F8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Aptos"/>
                        </a:rPr>
                        <a:t>What it measures</a:t>
                      </a:r>
                      <a:endParaRPr sz="210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5B3F84"/>
                    </a:solidFill>
                  </a:tcPr>
                </a:tc>
              </a:tr>
              <a:tr h="1014730"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900" b="0">
                          <a:solidFill>
                            <a:srgbClr val="2B272F"/>
                          </a:solidFill>
                          <a:latin typeface="Aptos"/>
                        </a:rPr>
                        <a:t>Recall / detection rate</a:t>
                      </a:r>
                      <a:endParaRPr sz="19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AF7E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900" b="0">
                          <a:solidFill>
                            <a:srgbClr val="2B272F"/>
                          </a:solidFill>
                          <a:latin typeface="Aptos"/>
                        </a:rPr>
                        <a:t>Malicious cases caught</a:t>
                      </a:r>
                      <a:endParaRPr sz="19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AF7EF"/>
                    </a:solidFill>
                  </a:tcPr>
                </a:tc>
              </a:tr>
              <a:tr h="1014730"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900" b="0">
                          <a:solidFill>
                            <a:srgbClr val="2B272F"/>
                          </a:solidFill>
                          <a:latin typeface="Aptos"/>
                        </a:rPr>
                        <a:t>False-positive rate</a:t>
                      </a:r>
                      <a:endParaRPr sz="19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2EEF7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900" b="0">
                          <a:solidFill>
                            <a:srgbClr val="2B272F"/>
                          </a:solidFill>
                          <a:latin typeface="Aptos"/>
                        </a:rPr>
                        <a:t>Benign cases blocked</a:t>
                      </a:r>
                      <a:endParaRPr sz="19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2EEF7"/>
                    </a:solidFill>
                  </a:tcPr>
                </a:tc>
              </a:tr>
              <a:tr h="1014730"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900" b="0">
                          <a:solidFill>
                            <a:srgbClr val="2B272F"/>
                          </a:solidFill>
                          <a:latin typeface="Aptos"/>
                        </a:rPr>
                        <a:t>Precision</a:t>
                      </a:r>
                      <a:endParaRPr sz="19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AF7E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900" b="0">
                          <a:solidFill>
                            <a:srgbClr val="2B272F"/>
                          </a:solidFill>
                          <a:latin typeface="Aptos"/>
                        </a:rPr>
                        <a:t>Alerts that are truly malicious</a:t>
                      </a:r>
                      <a:endParaRPr sz="19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AF7EF"/>
                    </a:solidFill>
                  </a:tcPr>
                </a:tc>
              </a:tr>
              <a:tr h="1014730"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900" b="0">
                          <a:solidFill>
                            <a:srgbClr val="2B272F"/>
                          </a:solidFill>
                          <a:latin typeface="Aptos"/>
                        </a:rPr>
                        <a:t>Accuracy</a:t>
                      </a:r>
                      <a:endParaRPr sz="19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2EEF7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900" b="0">
                          <a:solidFill>
                            <a:srgbClr val="2B272F"/>
                          </a:solidFill>
                          <a:latin typeface="Aptos"/>
                        </a:rPr>
                        <a:t>Correct decisions overall</a:t>
                      </a:r>
                      <a:endParaRPr sz="1900" b="0">
                        <a:solidFill>
                          <a:srgbClr val="2B272F"/>
                        </a:solidFill>
                        <a:latin typeface="Aptos"/>
                      </a:endParaRPr>
                    </a:p>
                  </a:txBody>
                  <a:tcPr marT="36576" marB="36576" anchor="ctr">
                    <a:solidFill>
                      <a:srgbClr val="F2EEF7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8229600" y="7894320"/>
            <a:ext cx="8046720" cy="191643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2B272F"/>
                </a:solidFill>
                <a:latin typeface="Aptos"/>
              </a:rPr>
              <a:t>Report actual results only after rerunning the labelled tests on the final build.</a:t>
            </a:r>
            <a:endParaRPr sz="2900" b="0">
              <a:solidFill>
                <a:srgbClr val="2B272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0" y="4711687"/>
            <a:ext cx="6540804" cy="5148966"/>
          </a:xfrm>
          <a:custGeom>
            <a:avLst/>
            <a:gdLst/>
            <a:ahLst/>
            <a:cxnLst/>
            <a:rect l="l" t="t" r="r" b="b"/>
            <a:pathLst>
              <a:path w="6540804" h="5148966">
                <a:moveTo>
                  <a:pt x="0" y="0"/>
                </a:moveTo>
                <a:lnTo>
                  <a:pt x="6540804" y="0"/>
                </a:lnTo>
                <a:lnTo>
                  <a:pt x="6540804" y="5148965"/>
                </a:lnTo>
                <a:lnTo>
                  <a:pt x="0" y="51489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p/>
        </p:txBody>
      </p:sp>
      <p:sp>
        <p:nvSpPr>
          <p:cNvPr id="4" name="Freeform 4"/>
          <p:cNvSpPr/>
          <p:nvPr/>
        </p:nvSpPr>
        <p:spPr>
          <a:xfrm>
            <a:off x="7175196" y="6854356"/>
            <a:ext cx="4364182" cy="3006296"/>
          </a:xfrm>
          <a:custGeom>
            <a:avLst/>
            <a:gdLst/>
            <a:ahLst/>
            <a:cxnLst/>
            <a:rect l="l" t="t" r="r" b="b"/>
            <a:pathLst>
              <a:path w="4364182" h="3006296">
                <a:moveTo>
                  <a:pt x="0" y="0"/>
                </a:moveTo>
                <a:lnTo>
                  <a:pt x="4364182" y="0"/>
                </a:lnTo>
                <a:lnTo>
                  <a:pt x="4364182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p/>
        </p:txBody>
      </p:sp>
      <p:sp>
        <p:nvSpPr>
          <p:cNvPr id="5" name="Freeform 5"/>
          <p:cNvSpPr/>
          <p:nvPr/>
        </p:nvSpPr>
        <p:spPr>
          <a:xfrm>
            <a:off x="9789330" y="7499343"/>
            <a:ext cx="8498670" cy="2361309"/>
          </a:xfrm>
          <a:custGeom>
            <a:avLst/>
            <a:gdLst/>
            <a:ahLst/>
            <a:cxnLst/>
            <a:rect l="l" t="t" r="r" b="b"/>
            <a:pathLst>
              <a:path w="8498670" h="2361309">
                <a:moveTo>
                  <a:pt x="0" y="0"/>
                </a:moveTo>
                <a:lnTo>
                  <a:pt x="8498670" y="0"/>
                </a:lnTo>
                <a:lnTo>
                  <a:pt x="8498670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p/>
        </p:txBody>
      </p:sp>
      <p:sp>
        <p:nvSpPr>
          <p:cNvPr id="6" name="Freeform 6"/>
          <p:cNvSpPr/>
          <p:nvPr/>
        </p:nvSpPr>
        <p:spPr>
          <a:xfrm>
            <a:off x="0" y="7280704"/>
            <a:ext cx="16986402" cy="2798589"/>
          </a:xfrm>
          <a:custGeom>
            <a:avLst/>
            <a:gdLst/>
            <a:ahLst/>
            <a:cxnLst/>
            <a:rect l="l" t="t" r="r" b="b"/>
            <a:pathLst>
              <a:path w="16986402" h="2798589">
                <a:moveTo>
                  <a:pt x="0" y="0"/>
                </a:moveTo>
                <a:lnTo>
                  <a:pt x="16986402" y="0"/>
                </a:lnTo>
                <a:lnTo>
                  <a:pt x="16986402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p/>
        </p:txBody>
      </p:sp>
      <p:sp>
        <p:nvSpPr>
          <p:cNvPr id="7" name="Freeform 7"/>
          <p:cNvSpPr/>
          <p:nvPr/>
        </p:nvSpPr>
        <p:spPr>
          <a:xfrm>
            <a:off x="1301598" y="6635716"/>
            <a:ext cx="1312536" cy="3443576"/>
          </a:xfrm>
          <a:custGeom>
            <a:avLst/>
            <a:gdLst/>
            <a:ahLst/>
            <a:cxnLst/>
            <a:rect l="l" t="t" r="r" b="b"/>
            <a:pathLst>
              <a:path w="1312536" h="3443576">
                <a:moveTo>
                  <a:pt x="0" y="0"/>
                </a:moveTo>
                <a:lnTo>
                  <a:pt x="1312536" y="0"/>
                </a:lnTo>
                <a:lnTo>
                  <a:pt x="131253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p/>
        </p:txBody>
      </p:sp>
      <p:sp>
        <p:nvSpPr>
          <p:cNvPr id="8" name="Freeform 8"/>
          <p:cNvSpPr/>
          <p:nvPr/>
        </p:nvSpPr>
        <p:spPr>
          <a:xfrm>
            <a:off x="2176622" y="5990729"/>
            <a:ext cx="1531292" cy="4088563"/>
          </a:xfrm>
          <a:custGeom>
            <a:avLst/>
            <a:gdLst/>
            <a:ahLst/>
            <a:cxnLst/>
            <a:rect l="l" t="t" r="r" b="b"/>
            <a:pathLst>
              <a:path w="1531292" h="4088563">
                <a:moveTo>
                  <a:pt x="0" y="0"/>
                </a:moveTo>
                <a:lnTo>
                  <a:pt x="1531292" y="0"/>
                </a:lnTo>
                <a:lnTo>
                  <a:pt x="1531292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p/>
        </p:txBody>
      </p:sp>
      <p:sp>
        <p:nvSpPr>
          <p:cNvPr id="9" name="Freeform 9"/>
          <p:cNvSpPr/>
          <p:nvPr/>
        </p:nvSpPr>
        <p:spPr>
          <a:xfrm>
            <a:off x="12840976" y="6635716"/>
            <a:ext cx="1312536" cy="3443576"/>
          </a:xfrm>
          <a:custGeom>
            <a:avLst/>
            <a:gdLst/>
            <a:ahLst/>
            <a:cxnLst/>
            <a:rect l="l" t="t" r="r" b="b"/>
            <a:pathLst>
              <a:path w="1312536" h="3443576">
                <a:moveTo>
                  <a:pt x="0" y="0"/>
                </a:moveTo>
                <a:lnTo>
                  <a:pt x="1312536" y="0"/>
                </a:lnTo>
                <a:lnTo>
                  <a:pt x="131253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p/>
        </p:txBody>
      </p:sp>
      <p:sp>
        <p:nvSpPr>
          <p:cNvPr id="10" name="Freeform 10"/>
          <p:cNvSpPr/>
          <p:nvPr/>
        </p:nvSpPr>
        <p:spPr>
          <a:xfrm>
            <a:off x="13923818" y="7280704"/>
            <a:ext cx="1104718" cy="2579949"/>
          </a:xfrm>
          <a:custGeom>
            <a:avLst/>
            <a:gdLst/>
            <a:ahLst/>
            <a:cxnLst/>
            <a:rect l="l" t="t" r="r" b="b"/>
            <a:pathLst>
              <a:path w="1104718" h="2579949">
                <a:moveTo>
                  <a:pt x="0" y="0"/>
                </a:moveTo>
                <a:lnTo>
                  <a:pt x="1104718" y="0"/>
                </a:lnTo>
                <a:lnTo>
                  <a:pt x="1104718" y="2579948"/>
                </a:lnTo>
                <a:lnTo>
                  <a:pt x="0" y="2579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p/>
        </p:txBody>
      </p:sp>
      <p:sp>
        <p:nvSpPr>
          <p:cNvPr id="11" name="Freeform 11"/>
          <p:cNvSpPr/>
          <p:nvPr/>
        </p:nvSpPr>
        <p:spPr>
          <a:xfrm>
            <a:off x="0" y="9423373"/>
            <a:ext cx="18288000" cy="863627"/>
          </a:xfrm>
          <a:custGeom>
            <a:avLst/>
            <a:gdLst/>
            <a:ahLst/>
            <a:cxnLst/>
            <a:rect l="l" t="t" r="r" b="b"/>
            <a:pathLst>
              <a:path w="18288000" h="863627">
                <a:moveTo>
                  <a:pt x="0" y="0"/>
                </a:moveTo>
                <a:lnTo>
                  <a:pt x="18288000" y="0"/>
                </a:lnTo>
                <a:lnTo>
                  <a:pt x="1828800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p/>
        </p:txBody>
      </p:sp>
      <p:sp>
        <p:nvSpPr>
          <p:cNvPr id="12" name="TextBox 12"/>
          <p:cNvSpPr txBox="1"/>
          <p:nvPr/>
        </p:nvSpPr>
        <p:spPr>
          <a:xfrm>
            <a:off x="5623560" y="2606040"/>
            <a:ext cx="8529320" cy="2148840"/>
          </a:xfrm>
          <a:prstGeom prst="rect">
            <a:avLst/>
          </a:prstGeom>
        </p:spPr>
        <p:txBody>
          <a:bodyPr wrap="square" lIns="0" tIns="18288" rIns="0" bIns="18288" rtlCol="0" anchor="ctr">
            <a:noAutofit/>
          </a:bodyPr>
          <a:lstStyle/>
          <a:p>
            <a:pPr algn="ctr">
              <a:lnSpc>
                <a:spcPts val="141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130" b="1" spc="282">
                <a:solidFill>
                  <a:srgbClr val="141D4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THANK YOU!</a:t>
            </a:r>
            <a:endParaRPr lang="en-US" sz="14130" b="1" spc="282">
              <a:solidFill>
                <a:srgbClr val="141D40"/>
              </a:solidFill>
              <a:latin typeface="Heading Now 31-38 Bold"/>
              <a:ea typeface="Heading Now 31-38 Bold"/>
              <a:cs typeface="Heading Now 31-38 Bold"/>
              <a:sym typeface="Heading Now 31-38 Bold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3259464" y="5459607"/>
            <a:ext cx="11769072" cy="218640"/>
          </a:xfrm>
          <a:custGeom>
            <a:avLst/>
            <a:gdLst/>
            <a:ahLst/>
            <a:cxnLst/>
            <a:rect l="l" t="t" r="r" b="b"/>
            <a:pathLst>
              <a:path w="11769072" h="218640">
                <a:moveTo>
                  <a:pt x="0" y="0"/>
                </a:moveTo>
                <a:lnTo>
                  <a:pt x="11769072" y="0"/>
                </a:lnTo>
                <a:lnTo>
                  <a:pt x="1176907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p/>
        </p:txBody>
      </p:sp>
      <p:sp>
        <p:nvSpPr>
          <p:cNvPr id="14" name="TextBox 14"/>
          <p:cNvSpPr txBox="1"/>
          <p:nvPr/>
        </p:nvSpPr>
        <p:spPr>
          <a:xfrm>
            <a:off x="6248400" y="6009640"/>
            <a:ext cx="8153400" cy="711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55"/>
              </a:lnSpc>
            </a:pPr>
            <a:r>
              <a:rPr lang="en-US" sz="5555" b="1" spc="276">
                <a:solidFill>
                  <a:srgbClr val="323F9D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VORTEXA 3.0</a:t>
            </a:r>
            <a:endParaRPr lang="en-US" sz="5555" b="1" spc="276">
              <a:solidFill>
                <a:srgbClr val="323F9D"/>
              </a:solidFill>
              <a:latin typeface="Heading Now 31-38 Bold"/>
              <a:ea typeface="Heading Now 31-38 Bold"/>
              <a:cs typeface="Heading Now 31-38 Bold"/>
              <a:sym typeface="Heading Now 31-38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581401" y="7052188"/>
            <a:ext cx="1168417" cy="8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55"/>
              </a:lnSpc>
            </a:pPr>
            <a:r>
              <a:rPr lang="en-US" sz="5555" b="1" spc="276">
                <a:solidFill>
                  <a:srgbClr val="ED80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AIRS</a:t>
            </a:r>
            <a:endParaRPr lang="en-US" sz="5555" b="1" spc="276">
              <a:solidFill>
                <a:srgbClr val="ED8076"/>
              </a:solidFill>
              <a:latin typeface="Heading Now 31-38 Bold"/>
              <a:ea typeface="Heading Now 31-38 Bold"/>
              <a:cs typeface="Heading Now 31-38 Bold"/>
              <a:sym typeface="Heading Now 31-38 Bold"/>
            </a:endParaRPr>
          </a:p>
        </p:txBody>
      </p:sp>
      <p:sp>
        <p:nvSpPr>
          <p:cNvPr id="16" name="TextBox 16"/>
          <p:cNvSpPr txBox="1"/>
          <p:nvPr/>
        </p:nvSpPr>
        <p:spPr>
          <a:xfrm rot="-769921">
            <a:off x="15555796" y="4644632"/>
            <a:ext cx="1911526" cy="1704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5"/>
              </a:lnSpc>
            </a:pPr>
            <a:r>
              <a:rPr lang="en-US" sz="5210">
                <a:solidFill>
                  <a:srgbClr val="ED8076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Game’s</a:t>
            </a:r>
            <a:endParaRPr lang="en-US" sz="5210">
              <a:solidFill>
                <a:srgbClr val="ED8076"/>
              </a:solidFill>
              <a:latin typeface="Heading Now 31-38"/>
              <a:ea typeface="Heading Now 31-38"/>
              <a:cs typeface="Heading Now 31-38"/>
              <a:sym typeface="Heading Now 31-38"/>
            </a:endParaRPr>
          </a:p>
          <a:p>
            <a:pPr algn="ctr">
              <a:lnSpc>
                <a:spcPts val="6255"/>
              </a:lnSpc>
            </a:pPr>
            <a:r>
              <a:rPr lang="en-US" sz="5210">
                <a:solidFill>
                  <a:srgbClr val="ED8076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Still On</a:t>
            </a:r>
            <a:endParaRPr lang="en-US" sz="5210">
              <a:solidFill>
                <a:srgbClr val="ED8076"/>
              </a:solidFill>
              <a:latin typeface="Heading Now 31-38"/>
              <a:ea typeface="Heading Now 31-38"/>
              <a:cs typeface="Heading Now 31-38"/>
              <a:sym typeface="Heading Now 31-38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15892622" y="5998497"/>
            <a:ext cx="2187560" cy="1082267"/>
          </a:xfrm>
          <a:custGeom>
            <a:avLst/>
            <a:gdLst/>
            <a:ahLst/>
            <a:cxnLst/>
            <a:rect l="l" t="t" r="r" b="b"/>
            <a:pathLst>
              <a:path w="2187560" h="1082267">
                <a:moveTo>
                  <a:pt x="0" y="0"/>
                </a:moveTo>
                <a:lnTo>
                  <a:pt x="2187560" y="0"/>
                </a:lnTo>
                <a:lnTo>
                  <a:pt x="2187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p/>
        </p:txBody>
      </p:sp>
      <p:sp>
        <p:nvSpPr>
          <p:cNvPr id="18" name="Freeform 18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p/>
        </p:txBody>
      </p:sp>
      <p:sp>
        <p:nvSpPr>
          <p:cNvPr id="20" name="TextBox 19"/>
          <p:cNvSpPr txBox="1"/>
          <p:nvPr/>
        </p:nvSpPr>
        <p:spPr>
          <a:xfrm>
            <a:off x="1691640" y="1645920"/>
            <a:ext cx="8778240" cy="914400"/>
          </a:xfrm>
          <a:prstGeom prst="rect">
            <a:avLst/>
          </a:prstGeom>
          <a:noFill/>
        </p:spPr>
        <p:txBody>
          <a:bodyPr wrap="square" lIns="54864" tIns="18288" rIns="54864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sz="1700" b="0">
              <a:solidFill>
                <a:srgbClr val="2B272F"/>
              </a:solidFill>
              <a:latin typeface="Apto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1224*340"/>
  <p:tag name="TABLE_ENDDRAG_RECT" val="86*219*1224*340"/>
</p:tagLst>
</file>

<file path=ppt/tags/tag2.xml><?xml version="1.0" encoding="utf-8"?>
<p:tagLst xmlns:p="http://schemas.openxmlformats.org/presentationml/2006/main">
  <p:tag name="TABLE_ENDDRAG_ORIGIN_RECT" val="1224*330"/>
  <p:tag name="TABLE_ENDDRAG_RECT" val="86*183*1224*330"/>
</p:tagLst>
</file>

<file path=ppt/tags/tag3.xml><?xml version="1.0" encoding="utf-8"?>
<p:tagLst xmlns:p="http://schemas.openxmlformats.org/presentationml/2006/main">
  <p:tag name="TABLE_ENDDRAG_ORIGIN_RECT" val="1224*379"/>
  <p:tag name="TABLE_ENDDRAG_RECT" val="86*231*1224*379"/>
</p:tagLst>
</file>

<file path=ppt/tags/tag4.xml><?xml version="1.0" encoding="utf-8"?>
<p:tagLst xmlns:p="http://schemas.openxmlformats.org/presentationml/2006/main">
  <p:tag name="TABLE_ENDDRAG_ORIGIN_RECT" val="633*399"/>
  <p:tag name="TABLE_ENDDRAG_RECT" val="648*219*633*39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3073</Words>
  <Application>WPS Presentation</Application>
  <PresentationFormat>On-screen Show (4:3)</PresentationFormat>
  <Paragraphs>226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SimSun</vt:lpstr>
      <vt:lpstr>Wingdings</vt:lpstr>
      <vt:lpstr>Aptos</vt:lpstr>
      <vt:lpstr>Segoe UI</vt:lpstr>
      <vt:lpstr>Heading Now 31-38 Bold</vt:lpstr>
      <vt:lpstr>Segoe Print</vt:lpstr>
      <vt:lpstr>Heading Now 31-38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VORTEXA 3.0 Hackathon</dc:title>
  <dc:creator/>
  <cp:lastModifiedBy>WPS_1763214426</cp:lastModifiedBy>
  <cp:revision>3</cp:revision>
  <dcterms:created xsi:type="dcterms:W3CDTF">2006-08-16T00:00:00Z</dcterms:created>
  <dcterms:modified xsi:type="dcterms:W3CDTF">2026-10-11T13:22:04Z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4BCFEB387FFC45648CD571A8E07984CC_13</vt:lpwstr>
  </property>
</Properties>
</file>